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MULTI-CURRENCY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9A227"/>
                </a:solidFill>
              </a:defRPr>
            </a:pPr>
            <a:r>
              <a:t>Enterprise Account &amp; Wallet Management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Sequro CMS · Account Management System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One platform. Multiple currencies. Complete control.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A5568"/>
                </a:solidFill>
              </a:defRPr>
            </a:pPr>
            <a:r>
              <a:t>• End-to-end Account Management System for banks, fintechs &amp; NBFCs</a:t>
            </a:r>
          </a:p>
          <a:p>
            <a:pPr>
              <a:spcAft>
                <a:spcPts val="1000"/>
              </a:spcAft>
              <a:defRPr sz="2000">
                <a:solidFill>
                  <a:srgbClr val="4A5568"/>
                </a:solidFill>
              </a:defRPr>
            </a:pPr>
            <a:r>
              <a:t>• Native multi-currency wallet per customer account</a:t>
            </a:r>
          </a:p>
          <a:p>
            <a:pPr>
              <a:spcAft>
                <a:spcPts val="1000"/>
              </a:spcAft>
              <a:defRPr sz="2000">
                <a:solidFill>
                  <a:srgbClr val="4A5568"/>
                </a:solidFill>
              </a:defRPr>
            </a:pPr>
            <a:r>
              <a:t>• Unified admin console + mobile-ready encrypted APIs</a:t>
            </a:r>
          </a:p>
          <a:p>
            <a:pPr>
              <a:spcAft>
                <a:spcPts val="1000"/>
              </a:spcAft>
              <a:defRPr sz="2000">
                <a:solidFill>
                  <a:srgbClr val="4A5568"/>
                </a:solidFill>
              </a:defRPr>
            </a:pPr>
            <a:r>
              <a:t>• Solves: fragmented FX ops, slow onboarding, weak audit trails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A5568"/>
                </a:solidFill>
              </a:defRPr>
            </a:pPr>
            <a:r>
              <a:t>• Multi-currency wallets (USD, EUR, INR, NGN…)</a:t>
            </a:r>
          </a:p>
          <a:p>
            <a:pPr>
              <a:spcAft>
                <a:spcPts val="1000"/>
              </a:spcAft>
              <a:defRPr sz="2000">
                <a:solidFill>
                  <a:srgbClr val="4A5568"/>
                </a:solidFill>
              </a:defRPr>
            </a:pPr>
            <a:r>
              <a:t>• FX conversion engine with configurable rates</a:t>
            </a:r>
          </a:p>
          <a:p>
            <a:pPr>
              <a:spcAft>
                <a:spcPts val="1000"/>
              </a:spcAft>
              <a:defRPr sz="2000">
                <a:solidFill>
                  <a:srgbClr val="4A5568"/>
                </a:solidFill>
              </a:defRPr>
            </a:pPr>
            <a:r>
              <a:t>• Load money &amp; cross-currency transfers</a:t>
            </a:r>
          </a:p>
          <a:p>
            <a:pPr>
              <a:spcAft>
                <a:spcPts val="1000"/>
              </a:spcAft>
              <a:defRPr sz="2000">
                <a:solidFill>
                  <a:srgbClr val="4A5568"/>
                </a:solidFill>
              </a:defRPr>
            </a:pPr>
            <a:r>
              <a:t>• GL integration, bulk pay, credit card lifecycle</a:t>
            </a:r>
          </a:p>
          <a:p>
            <a:pPr>
              <a:spcAft>
                <a:spcPts val="1000"/>
              </a:spcAft>
              <a:defRPr sz="2000">
                <a:solidFill>
                  <a:srgbClr val="4A5568"/>
                </a:solidFill>
              </a:defRPr>
            </a:pPr>
            <a:r>
              <a:t>• Role-based admin UI · Maker-checker workflows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Multi-Currency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A5568"/>
                </a:solidFill>
              </a:defRPr>
            </a:pPr>
            <a:r>
              <a:t>• ① Configure currencies &amp; FX rates</a:t>
            </a:r>
          </a:p>
          <a:p>
            <a:pPr>
              <a:spcAft>
                <a:spcPts val="1000"/>
              </a:spcAft>
              <a:defRPr sz="2000">
                <a:solidFill>
                  <a:srgbClr val="4A5568"/>
                </a:solidFill>
              </a:defRPr>
            </a:pPr>
            <a:r>
              <a:t>• ② Open account → auto-create currency wallets</a:t>
            </a:r>
          </a:p>
          <a:p>
            <a:pPr>
              <a:spcAft>
                <a:spcPts val="1000"/>
              </a:spcAft>
              <a:defRPr sz="2000">
                <a:solidFill>
                  <a:srgbClr val="4A5568"/>
                </a:solidFill>
              </a:defRPr>
            </a:pPr>
            <a:r>
              <a:t>• ③ Wallet ID = Account Number + Currency Code</a:t>
            </a:r>
          </a:p>
          <a:p>
            <a:pPr>
              <a:spcAft>
                <a:spcPts val="1000"/>
              </a:spcAft>
              <a:defRPr sz="2000">
                <a:solidFill>
                  <a:srgbClr val="4A5568"/>
                </a:solidFill>
              </a:defRPr>
            </a:pPr>
            <a:r>
              <a:t>• ④ Load → Transfer → Statements &amp; regulatory reports</a:t>
            </a:r>
          </a:p>
          <a:p>
            <a:pPr>
              <a:spcAft>
                <a:spcPts val="1000"/>
              </a:spcAft>
              <a:defRPr sz="2000">
                <a:solidFill>
                  <a:srgbClr val="4A5568"/>
                </a:solidFill>
              </a:defRPr>
            </a:pPr>
            <a:r>
              <a:t>• Each currency is a first-class wallet with balance &amp; priority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Security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A5568"/>
                </a:solidFill>
              </a:defRPr>
            </a:pPr>
            <a:r>
              <a:t>• JWT authentication · API secret key validation</a:t>
            </a:r>
          </a:p>
          <a:p>
            <a:pPr>
              <a:spcAft>
                <a:spcPts val="1000"/>
              </a:spcAft>
              <a:defRPr sz="2000">
                <a:solidFill>
                  <a:srgbClr val="4A5568"/>
                </a:solidFill>
              </a:defRPr>
            </a:pPr>
            <a:r>
              <a:t>• AES encrypted payloads for mobile channel</a:t>
            </a:r>
          </a:p>
          <a:p>
            <a:pPr>
              <a:spcAft>
                <a:spcPts val="1000"/>
              </a:spcAft>
              <a:defRPr sz="2000">
                <a:solidFill>
                  <a:srgbClr val="4A5568"/>
                </a:solidFill>
              </a:defRPr>
            </a:pPr>
            <a:r>
              <a:t>• Customer PIN on sensitive wallet operations</a:t>
            </a:r>
          </a:p>
          <a:p>
            <a:pPr>
              <a:spcAft>
                <a:spcPts val="1000"/>
              </a:spcAft>
              <a:defRPr sz="2000">
                <a:solidFill>
                  <a:srgbClr val="4A5568"/>
                </a:solidFill>
              </a:defRPr>
            </a:pPr>
            <a:r>
              <a:t>• Maker-checker: dormancy, bulk, journal transfers</a:t>
            </a:r>
          </a:p>
          <a:p>
            <a:pPr>
              <a:spcAft>
                <a:spcPts val="1000"/>
              </a:spcAft>
              <a:defRPr sz="2000">
                <a:solidFill>
                  <a:srgbClr val="4A5568"/>
                </a:solidFill>
              </a:defRPr>
            </a:pPr>
            <a:r>
              <a:t>• Full txn request/response audit · Participant isolation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B1F3A"/>
                </a:solidFill>
              </a:defRPr>
            </a:pPr>
            <a:r>
              <a:t>Backend</a:t>
            </a:r>
          </a:p>
          <a:p>
            <a:pPr>
              <a:spcAft>
                <a:spcPts val="1200"/>
              </a:spcAft>
              <a:defRPr sz="1400">
                <a:solidFill>
                  <a:srgbClr val="4A5568"/>
                </a:solidFill>
              </a:defRPr>
            </a:pPr>
            <a:r>
              <a:t>Java 8 · Spring Boot 2.7 · Hibernate · MySQL</a:t>
            </a:r>
          </a:p>
          <a:p>
            <a:pPr>
              <a:defRPr b="1" sz="1800">
                <a:solidFill>
                  <a:srgbClr val="0B1F3A"/>
                </a:solidFill>
              </a:defRPr>
            </a:pPr>
            <a:r>
              <a:t>Frontend</a:t>
            </a:r>
          </a:p>
          <a:p>
            <a:pPr>
              <a:spcAft>
                <a:spcPts val="1200"/>
              </a:spcAft>
              <a:defRPr sz="1400">
                <a:solidFill>
                  <a:srgbClr val="4A5568"/>
                </a:solidFill>
              </a:defRPr>
            </a:pPr>
            <a:r>
              <a:t>React 18 · Redux · Axios · Tailwind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B1F3A"/>
                </a:solidFill>
              </a:defRPr>
            </a:pPr>
            <a:r>
              <a:t>Security</a:t>
            </a:r>
          </a:p>
          <a:p>
            <a:pPr>
              <a:spcAft>
                <a:spcPts val="1200"/>
              </a:spcAft>
              <a:defRPr sz="1400">
                <a:solidFill>
                  <a:srgbClr val="4A5568"/>
                </a:solidFill>
              </a:defRPr>
            </a:pPr>
            <a:r>
              <a:t>Spring Security · JWT · AES encryption</a:t>
            </a:r>
          </a:p>
          <a:p>
            <a:pPr>
              <a:defRPr b="1" sz="1800">
                <a:solidFill>
                  <a:srgbClr val="0B1F3A"/>
                </a:solidFill>
              </a:defRPr>
            </a:pPr>
            <a:r>
              <a:t>Integration</a:t>
            </a:r>
          </a:p>
          <a:p>
            <a:pPr>
              <a:spcAft>
                <a:spcPts val="1200"/>
              </a:spcAft>
              <a:defRPr sz="1400">
                <a:solidFill>
                  <a:srgbClr val="4A5568"/>
                </a:solidFill>
              </a:defRPr>
            </a:pPr>
            <a:r>
              <a:t>REST · Middleware · SMS/Email · QR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Business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B1F3A"/>
                </a:solidFill>
              </a:defRPr>
            </a:pPr>
            <a:r>
              <a:t>CEO / Business</a:t>
            </a:r>
          </a:p>
          <a:p>
            <a:pPr>
              <a:spcAft>
                <a:spcPts val="1200"/>
              </a:spcAft>
              <a:defRPr sz="1400">
                <a:solidFill>
                  <a:srgbClr val="4A5568"/>
                </a:solidFill>
              </a:defRPr>
            </a:pPr>
            <a:r>
              <a:t>Faster MC product launch · FX fee revenue</a:t>
            </a:r>
          </a:p>
          <a:p>
            <a:pPr>
              <a:defRPr b="1" sz="1800">
                <a:solidFill>
                  <a:srgbClr val="0B1F3A"/>
                </a:solidFill>
              </a:defRPr>
            </a:pPr>
            <a:r>
              <a:t>Operations</a:t>
            </a:r>
          </a:p>
          <a:p>
            <a:pPr>
              <a:spcAft>
                <a:spcPts val="1200"/>
              </a:spcAft>
              <a:defRPr sz="1400">
                <a:solidFill>
                  <a:srgbClr val="4A5568"/>
                </a:solidFill>
              </a:defRPr>
            </a:pPr>
            <a:r>
              <a:t>100+ ops in one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B1F3A"/>
                </a:solidFill>
              </a:defRPr>
            </a:pPr>
            <a:r>
              <a:t>Compliance</a:t>
            </a:r>
          </a:p>
          <a:p>
            <a:pPr>
              <a:spcAft>
                <a:spcPts val="1200"/>
              </a:spcAft>
              <a:defRPr sz="1400">
                <a:solidFill>
                  <a:srgbClr val="4A5568"/>
                </a:solidFill>
              </a:defRPr>
            </a:pPr>
            <a:r>
              <a:t>LRS/TCS · dormancy · closure · txn logs</a:t>
            </a:r>
          </a:p>
          <a:p>
            <a:pPr>
              <a:defRPr b="1" sz="1800">
                <a:solidFill>
                  <a:srgbClr val="0B1F3A"/>
                </a:solidFill>
              </a:defRPr>
            </a:pPr>
            <a:r>
              <a:t>IT / Customer</a:t>
            </a:r>
          </a:p>
          <a:p>
            <a:pPr>
              <a:spcAft>
                <a:spcPts val="1200"/>
              </a:spcAft>
              <a:defRPr sz="1400">
                <a:solidFill>
                  <a:srgbClr val="4A5568"/>
                </a:solidFill>
              </a:defRPr>
            </a:pPr>
            <a:r>
              <a:t>Monolith clarity · seamless mobile wallets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Choose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A5568"/>
                </a:solidFill>
              </a:defRPr>
            </a:pPr>
            <a:r>
              <a:t>✓ 80+ REST controllers · 95+ entities · 120+ admin screens</a:t>
            </a:r>
          </a:p>
          <a:p>
            <a:pPr>
              <a:spcAft>
                <a:spcPts val="1000"/>
              </a:spcAft>
              <a:defRPr sz="2000">
                <a:solidFill>
                  <a:srgbClr val="4A5568"/>
                </a:solidFill>
              </a:defRPr>
            </a:pPr>
            <a:r>
              <a:t>✓ Multi-currency by design (wallet master, conversion, transfer)</a:t>
            </a:r>
          </a:p>
          <a:p>
            <a:pPr>
              <a:spcAft>
                <a:spcPts val="1000"/>
              </a:spcAft>
              <a:defRPr sz="2000">
                <a:solidFill>
                  <a:srgbClr val="4A5568"/>
                </a:solidFill>
              </a:defRPr>
            </a:pPr>
            <a:r>
              <a:t>✓ Full banking: accounts, GL, bulk, cards, tiers, complaints</a:t>
            </a:r>
          </a:p>
          <a:p>
            <a:pPr>
              <a:spcAft>
                <a:spcPts val="1000"/>
              </a:spcAft>
              <a:defRPr sz="2000">
                <a:solidFill>
                  <a:srgbClr val="4A5568"/>
                </a:solidFill>
              </a:defRPr>
            </a:pPr>
            <a:r>
              <a:t>✓ Dual channel: operations UI + encrypted mobile APIs</a:t>
            </a:r>
          </a:p>
          <a:p>
            <a:pPr>
              <a:spcAft>
                <a:spcPts val="1000"/>
              </a:spcAft>
              <a:defRPr sz="2000">
                <a:solidFill>
                  <a:srgbClr val="4A5568"/>
                </a:solidFill>
              </a:defRPr>
            </a:pPr>
            <a:r>
              <a:t>✓ Multi-tenant participant model for BaaS &amp; group banks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A5568"/>
                </a:solidFill>
              </a:defRPr>
            </a:pPr>
            <a:r>
              <a:t>• Real-time FX feed · Open Banking / ISO 20022</a:t>
            </a:r>
          </a:p>
          <a:p>
            <a:pPr>
              <a:spcAft>
                <a:spcPts val="1000"/>
              </a:spcAft>
              <a:defRPr sz="2000">
                <a:solidFill>
                  <a:srgbClr val="4A5568"/>
                </a:solidFill>
              </a:defRPr>
            </a:pPr>
            <a:r>
              <a:t>• API-layer RBAC hardening · Cloud-native (K8s)</a:t>
            </a:r>
          </a:p>
          <a:p>
            <a:pPr>
              <a:spcAft>
                <a:spcPts val="1000"/>
              </a:spcAft>
              <a:defRPr sz="2000">
                <a:solidFill>
                  <a:srgbClr val="4A5568"/>
                </a:solidFill>
              </a:defRPr>
            </a:pPr>
            <a:r>
              <a:t>• Treasury analytics dashboard · Digital eKYC onboarding</a:t>
            </a:r>
          </a:p>
          <a:p>
            <a:pPr>
              <a:spcAft>
                <a:spcPts val="1000"/>
              </a:spcAft>
              <a:defRPr sz="2000">
                <a:solidFill>
                  <a:srgbClr val="4A5568"/>
                </a:solidFill>
              </a:defRPr>
            </a:pPr>
            <a:r>
              <a:t>• Incremental modernization — no rip-and-replace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9A227"/>
                </a:solidFill>
              </a:defRPr>
            </a:pPr>
            <a:r>
              <a:t>Schedule Your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onboarding → wallet creation → FX transfer → statement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MULTI-CURRENCY · The OS for multi-currency account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